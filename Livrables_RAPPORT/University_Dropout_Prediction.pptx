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9C-4174-AE23-8D95EE1B9796}"/>
              </c:ext>
            </c:extLst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9C-4174-AE23-8D95EE1B9796}"/>
              </c:ext>
            </c:extLst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9C-4174-AE23-8D95EE1B979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0.69440000000000002</c:v>
                </c:pt>
                <c:pt idx="1">
                  <c:v>0.81940000000000002</c:v>
                </c:pt>
                <c:pt idx="2">
                  <c:v>0.80559999999999998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99C-4174-AE23-8D95EE1B97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23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630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3407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MLOPS &amp; DATAOPS — BILAN FINAL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Dropout Prediction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5059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dataset brut à un service de prédiction déployé : DataOps, Machine Learning, MLOps et industrialisation Cloud.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27355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735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Projet terminé et fonctionnel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6104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3407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6104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85720" y="4389120"/>
            <a:ext cx="164592" cy="10972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2968600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4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8600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68216" y="4389120"/>
            <a:ext cx="164592" cy="10972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51096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3407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51096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0712" y="4389120"/>
            <a:ext cx="164592" cy="10972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3592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4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3592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33208" y="4389120"/>
            <a:ext cx="164592" cy="10972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6088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3407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6088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15704" y="4389120"/>
            <a:ext cx="164592" cy="109728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98584" y="416052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C4C8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8584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xAPI-Edu-Data (Kaggle)  •  Classification du risque : Low / Medium / 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Hajar · Fatima · Doaa · Yousra · Hasnaa · Wijdane · Hiba · Soukaina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6236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Mohammed AIT DAOUD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appel à projets industriel, un sujet éducation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dans le cadre du module MLOps &amp; DataOps, ce projet applique de bout en bout les principes de DataOps, MLOps, Agilité et Lean thinking à un cas concret : transformer une donnée brute en un produit IA exploitable, fiable et maintenable.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2374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5237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59736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prédire le niveau de risque de décrochage d'un étudiant à partir de ses caractéristiques académiques, comportementales et démographiques.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82112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182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118104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: chaîne complète data → ML → MLOps → déploiement, et non un simple notebook de Machine Learning.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840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776472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: équipe de 8 étudiants, rôles Agile répartis (Product Owner, Scrum Master, Data/ML/Deployment/DevOps Engineers).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1417320"/>
            <a:ext cx="4370832" cy="461772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16459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19019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xAPI-Edu-Data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2860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Kaggle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743200"/>
            <a:ext cx="112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246120"/>
            <a:ext cx="112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85504" y="2743200"/>
            <a:ext cx="112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985504" y="3246120"/>
            <a:ext cx="112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290048" y="2743200"/>
            <a:ext cx="112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0290048" y="3246120"/>
            <a:ext cx="112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risque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3886200"/>
            <a:ext cx="3730752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40690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4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096512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45994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46268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512978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8096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4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515721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livrables du cahier des charges, tous finalisés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5219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521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2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8132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projet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48132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objectifs, utilisateurs, valeur métier, data strategy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671048" y="157048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71048" y="15704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1" name="Shape 9"/>
          <p:cNvSpPr/>
          <p:nvPr/>
        </p:nvSpPr>
        <p:spPr>
          <a:xfrm>
            <a:off x="457200" y="191566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98653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19865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2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191566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Agile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91566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Product Backlog, User Stories, 3 sprints Scrum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71048" y="200482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71048" y="20048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18" name="Shape 16"/>
          <p:cNvSpPr/>
          <p:nvPr/>
        </p:nvSpPr>
        <p:spPr>
          <a:xfrm>
            <a:off x="457200" y="235000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42087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24208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2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35000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DataOps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35000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→ DuckDB → </a:t>
            </a:r>
            <a:r>
              <a:rPr lang="en-US" sz="115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</a:t>
            </a:r>
            <a:r>
              <a:rPr lang="en-US" sz="115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Dagster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671048" y="243916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71048" y="24391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5" name="Shape 23"/>
          <p:cNvSpPr/>
          <p:nvPr/>
        </p:nvSpPr>
        <p:spPr>
          <a:xfrm>
            <a:off x="457200" y="278434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285521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" y="28552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2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278434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278434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qualité, Data Contract, Data Lineage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671048" y="287350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71048" y="28735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32" name="Shape 30"/>
          <p:cNvSpPr/>
          <p:nvPr/>
        </p:nvSpPr>
        <p:spPr>
          <a:xfrm>
            <a:off x="457200" y="321868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28955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" y="3289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32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321868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321868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Préparation, entraînement, comparaison, évaluation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671048" y="330784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71048" y="33078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39" name="Shape 37"/>
          <p:cNvSpPr/>
          <p:nvPr/>
        </p:nvSpPr>
        <p:spPr>
          <a:xfrm>
            <a:off x="457200" y="365302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" y="372389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1792" y="37238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32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365302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3749040" y="365302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Tracking, Paramètres, Métriques, Model Registry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671048" y="374218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671048" y="37421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46" name="Shape 44"/>
          <p:cNvSpPr/>
          <p:nvPr/>
        </p:nvSpPr>
        <p:spPr>
          <a:xfrm>
            <a:off x="457200" y="408736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" y="415823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21792" y="41582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32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408736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408736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Docker, endpoints /predict /health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671048" y="417652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671048" y="41765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53" name="Shape 51"/>
          <p:cNvSpPr/>
          <p:nvPr/>
        </p:nvSpPr>
        <p:spPr>
          <a:xfrm>
            <a:off x="457200" y="452170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" y="459257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21792" y="45925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32" dirty="0"/>
          </a:p>
        </p:txBody>
      </p:sp>
      <p:sp>
        <p:nvSpPr>
          <p:cNvPr id="56" name="Text 54"/>
          <p:cNvSpPr txBox="1"/>
          <p:nvPr/>
        </p:nvSpPr>
        <p:spPr>
          <a:xfrm>
            <a:off x="1234440" y="452170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3749040" y="452170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tests, build Docker, vérification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0671048" y="461086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671048" y="46108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60" name="Shape 58"/>
          <p:cNvSpPr/>
          <p:nvPr/>
        </p:nvSpPr>
        <p:spPr>
          <a:xfrm>
            <a:off x="457200" y="495604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" y="502691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1792" y="50269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32" dirty="0"/>
          </a:p>
        </p:txBody>
      </p:sp>
      <p:sp>
        <p:nvSpPr>
          <p:cNvPr id="63" name="Text 61"/>
          <p:cNvSpPr txBox="1"/>
          <p:nvPr/>
        </p:nvSpPr>
        <p:spPr>
          <a:xfrm>
            <a:off x="1234440" y="495604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3749040" y="495604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Disponibilité, temps de réponse, métriques ML, dérive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671048" y="504520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671048" y="50452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67" name="Shape 65"/>
          <p:cNvSpPr/>
          <p:nvPr/>
        </p:nvSpPr>
        <p:spPr>
          <a:xfrm>
            <a:off x="457200" y="5390388"/>
            <a:ext cx="11274552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792" y="5461254"/>
            <a:ext cx="292608" cy="292608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21792" y="54612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32" dirty="0"/>
          </a:p>
        </p:txBody>
      </p:sp>
      <p:sp>
        <p:nvSpPr>
          <p:cNvPr id="70" name="Text 68"/>
          <p:cNvSpPr txBox="1"/>
          <p:nvPr/>
        </p:nvSpPr>
        <p:spPr>
          <a:xfrm>
            <a:off x="1234440" y="5390388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3749040" y="5390388"/>
            <a:ext cx="6903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architecture, guides d'installation et d'utilisation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10671048" y="5479542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671048" y="54795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910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195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décrochage universitaire est un enjeu majeur pour les établissements ; le détecter tôt permet d'agir avant l'abandon effectif de l'étudiant.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91072" y="14630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463040"/>
            <a:ext cx="73152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65392" y="15910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90195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chaîne data-to-production capable de classer chaque étudiant en Low / Medium / High Risk et d'exposer cette prédiction via un service exploitable.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73152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826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cibles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935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pédagogiques, conseillers académiques et administration universitaire, en charge du suivi et de l'accompagnement des étudiants.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31546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154680"/>
            <a:ext cx="73152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5392" y="328269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métier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5935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des abandons, priorisation des actions d'accompagnement, décisions appuyées sur des données fiables plutôt que sur l'intuition.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xAPI-Edu-Data (480 obs., 17 variables) ingéré et transformé via un pipeline DataOps garantissant qualité, traçabilité et contrat de données avant toute utilisation en Machine Learning.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Agile — Scrum avec Jira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et User Stories détaillées, gérés dans Jira. Le projet a été découpé en 3 sprints, chacun conclu par une Sprint Review et une Sprint Retrospective.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53872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13407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96312"/>
            <a:ext cx="3538728" cy="338328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96312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DataOps &amp; Data Quality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182880" cy="18288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2" name="Text 10"/>
          <p:cNvSpPr txBox="1"/>
          <p:nvPr/>
        </p:nvSpPr>
        <p:spPr>
          <a:xfrm>
            <a:off x="996696" y="305409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dlt, DuckDB, dbt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621024"/>
            <a:ext cx="182880" cy="18288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5" name="Text 13"/>
          <p:cNvSpPr txBox="1"/>
          <p:nvPr/>
        </p:nvSpPr>
        <p:spPr>
          <a:xfrm>
            <a:off x="996696" y="35570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Data Contract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123944"/>
            <a:ext cx="182880" cy="18288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123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8" name="Text 16"/>
          <p:cNvSpPr txBox="1"/>
          <p:nvPr/>
        </p:nvSpPr>
        <p:spPr>
          <a:xfrm>
            <a:off x="996696" y="40599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626864"/>
            <a:ext cx="182880" cy="18288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1" name="Text 19"/>
          <p:cNvSpPr txBox="1"/>
          <p:nvPr/>
        </p:nvSpPr>
        <p:spPr>
          <a:xfrm>
            <a:off x="996696" y="45628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Dagster (data)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212080"/>
            <a:ext cx="3081528" cy="320040"/>
          </a:xfrm>
          <a:prstGeom prst="roundRect">
            <a:avLst>
              <a:gd name="adj" fmla="val 48571"/>
            </a:avLst>
          </a:prstGeom>
          <a:solidFill>
            <a:srgbClr val="134074">
              <a:alpha val="12000"/>
            </a:srgbClr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2120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Terminé — 100 %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2148840"/>
            <a:ext cx="353872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21488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1B9E92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5112" y="2496312"/>
            <a:ext cx="3538728" cy="338328"/>
          </a:xfrm>
          <a:prstGeom prst="rect">
            <a:avLst/>
          </a:prstGeom>
          <a:solidFill>
            <a:srgbClr val="1B9E9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3712" y="22402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2496312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MLOps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553712" y="3118104"/>
            <a:ext cx="182880" cy="182880"/>
          </a:xfrm>
          <a:prstGeom prst="ellipse">
            <a:avLst/>
          </a:prstGeom>
          <a:solidFill>
            <a:srgbClr val="1B9E9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53712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1" name="Text 29"/>
          <p:cNvSpPr txBox="1"/>
          <p:nvPr/>
        </p:nvSpPr>
        <p:spPr>
          <a:xfrm>
            <a:off x="4864608" y="305409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&amp; Feature Engineering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53712" y="3621024"/>
            <a:ext cx="182880" cy="182880"/>
          </a:xfrm>
          <a:prstGeom prst="ellipse">
            <a:avLst/>
          </a:prstGeom>
          <a:solidFill>
            <a:srgbClr val="1B9E9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53712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4" name="Text 32"/>
          <p:cNvSpPr txBox="1"/>
          <p:nvPr/>
        </p:nvSpPr>
        <p:spPr>
          <a:xfrm>
            <a:off x="4864608" y="35570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&amp; comparaison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53712" y="4123944"/>
            <a:ext cx="182880" cy="182880"/>
          </a:xfrm>
          <a:prstGeom prst="ellipse">
            <a:avLst/>
          </a:prstGeom>
          <a:solidFill>
            <a:srgbClr val="1B9E9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53712" y="4123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7" name="Text 35"/>
          <p:cNvSpPr txBox="1"/>
          <p:nvPr/>
        </p:nvSpPr>
        <p:spPr>
          <a:xfrm>
            <a:off x="4864608" y="40599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&amp; Registry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53712" y="4626864"/>
            <a:ext cx="182880" cy="182880"/>
          </a:xfrm>
          <a:prstGeom prst="ellipse">
            <a:avLst/>
          </a:prstGeom>
          <a:solidFill>
            <a:srgbClr val="1B9E9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53712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45628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53712" y="5212080"/>
            <a:ext cx="3081528" cy="320040"/>
          </a:xfrm>
          <a:prstGeom prst="roundRect">
            <a:avLst>
              <a:gd name="adj" fmla="val 48571"/>
            </a:avLst>
          </a:prstGeom>
          <a:solidFill>
            <a:srgbClr val="1B9E92">
              <a:alpha val="12000"/>
            </a:srgbClr>
          </a:solidFill>
          <a:ln w="12700">
            <a:solidFill>
              <a:srgbClr val="1B9E9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3712" y="52120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Terminé — 100 %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93024" y="2148840"/>
            <a:ext cx="353872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93024" y="21488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6C4AA8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3024" y="2496312"/>
            <a:ext cx="3538728" cy="338328"/>
          </a:xfrm>
          <a:prstGeom prst="rect">
            <a:avLst/>
          </a:prstGeom>
          <a:solidFill>
            <a:srgbClr val="6C4AA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421624" y="22402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421624" y="2496312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&amp; Industrialisation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421624" y="3118104"/>
            <a:ext cx="182880" cy="182880"/>
          </a:xfrm>
          <a:prstGeom prst="ellipse">
            <a:avLst/>
          </a:prstGeom>
          <a:solidFill>
            <a:srgbClr val="6C4AA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421624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0" name="Text 48"/>
          <p:cNvSpPr txBox="1"/>
          <p:nvPr/>
        </p:nvSpPr>
        <p:spPr>
          <a:xfrm>
            <a:off x="8732520" y="305409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Docker, Compose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421624" y="3621024"/>
            <a:ext cx="182880" cy="182880"/>
          </a:xfrm>
          <a:prstGeom prst="ellipse">
            <a:avLst/>
          </a:prstGeom>
          <a:solidFill>
            <a:srgbClr val="6C4AA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421624" y="3621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3" name="Text 51"/>
          <p:cNvSpPr txBox="1"/>
          <p:nvPr/>
        </p:nvSpPr>
        <p:spPr>
          <a:xfrm>
            <a:off x="8732520" y="35570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21624" y="4123944"/>
            <a:ext cx="182880" cy="182880"/>
          </a:xfrm>
          <a:prstGeom prst="ellipse">
            <a:avLst/>
          </a:prstGeom>
          <a:solidFill>
            <a:srgbClr val="6C4AA8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421624" y="4123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6" name="Text 54"/>
          <p:cNvSpPr txBox="1"/>
          <p:nvPr/>
        </p:nvSpPr>
        <p:spPr>
          <a:xfrm>
            <a:off x="8732520" y="40599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API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421624" y="4626864"/>
            <a:ext cx="182880" cy="182880"/>
          </a:xfrm>
          <a:prstGeom prst="ellipse">
            <a:avLst/>
          </a:prstGeom>
          <a:solidFill>
            <a:srgbClr val="6C4AA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421624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9" name="Text 57"/>
          <p:cNvSpPr txBox="1"/>
          <p:nvPr/>
        </p:nvSpPr>
        <p:spPr>
          <a:xfrm>
            <a:off x="8732520" y="45628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(Komodo)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421624" y="5212080"/>
            <a:ext cx="3081528" cy="320040"/>
          </a:xfrm>
          <a:prstGeom prst="roundRect">
            <a:avLst>
              <a:gd name="adj" fmla="val 48571"/>
            </a:avLst>
          </a:prstGeom>
          <a:solidFill>
            <a:srgbClr val="6C4AA8">
              <a:alpha val="12000"/>
            </a:srgbClr>
          </a:solidFill>
          <a:ln w="12700">
            <a:solidFill>
              <a:srgbClr val="6C4AA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421624" y="52120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4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Terminé — 100 %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— INGESTION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des données — dlt → DuckDB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691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49424" y="1728216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xAPI-Edu-Data.csv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40910" y="2057400"/>
            <a:ext cx="382219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7" name="Shape 5"/>
          <p:cNvSpPr/>
          <p:nvPr/>
        </p:nvSpPr>
        <p:spPr>
          <a:xfrm>
            <a:off x="4983480" y="1691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134074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38344" y="1728216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29830" y="2057400"/>
            <a:ext cx="382219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1691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27264" y="1728216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raw_data.students_raw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— EXTRACTION &amp; CHARGEMENT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38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dataops/dlt/ingest_data.py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962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49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785616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fichier CSV source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325112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25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261104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Nettoie les noms de colonnes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800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73659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le pipeline dlt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276088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276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5212080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destination DuckDB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575157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751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568756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les données dans raw_data.students_raw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5650992" cy="3063240"/>
          </a:xfrm>
          <a:prstGeom prst="roundRect">
            <a:avLst>
              <a:gd name="adj" fmla="val 2985"/>
            </a:avLst>
          </a:prstGeom>
          <a:solidFill>
            <a:srgbClr val="0B25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— STOCKAGE ANALYTIQUE LOCAL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sert de base analytique locale pour l'ensemble du pipeline DataOps.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402336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1C4C8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data/duckdb/university.duckdb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55080" y="470916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1C4C8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4709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raw_data.students_raw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 de la séparation RAW → TRANSFORMED → PREPARED, détaillée à l'étape de transformation.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— TRANSFORMATION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des données — dbt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6916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34074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92224" y="172821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students_raw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84371" y="2057400"/>
            <a:ext cx="27797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6916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61104" y="172821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stg_students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3251" y="2057400"/>
            <a:ext cx="277978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916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9984" y="172821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88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qualité dbt : 9 / 9 réussis 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69037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03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— MODÉLISATION SQL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867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dataops/dbt/university_dropout_dbt/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37997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315968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stg_students : nettoyage et typage des données brutes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94690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946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882896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prepared_students : jeu de données prêt pour la qualité et le ML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513832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513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5449824"/>
            <a:ext cx="596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schema.yml + sources.yml : déclaration des tests et des sources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71232" y="352044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45552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DONNÉES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45552" y="4041648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C4C8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45552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92056" y="4517136"/>
            <a:ext cx="11887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31" name="Shape 29"/>
          <p:cNvSpPr/>
          <p:nvPr/>
        </p:nvSpPr>
        <p:spPr>
          <a:xfrm>
            <a:off x="7845552" y="4645152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C4C8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45552" y="46451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DATA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92056" y="5120640"/>
            <a:ext cx="11887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34" name="Shape 32"/>
          <p:cNvSpPr/>
          <p:nvPr/>
        </p:nvSpPr>
        <p:spPr>
          <a:xfrm>
            <a:off x="7845552" y="5248656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C4C8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45552" y="52486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des données, Data Contract &amp; Data Lineage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RÉALISÉS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0253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3852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&amp; valeurs NULL interdites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55117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51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8716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données &amp; valeurs catégorielles autorisées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09981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099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3580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Plages numériques valides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64845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58444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des identifiants techniques (_dlt_id)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19709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197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13308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exacts et doublons métier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74573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745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68172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spécifiques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166360"/>
            <a:ext cx="484632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285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global produit 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55778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C4B6">
              <a:alpha val="1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577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20240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A33D">
              <a:alpha val="1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20240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PASS_WITH_WARNINGS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60520" y="55778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0520" y="5577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1463040"/>
            <a:ext cx="5650992" cy="19659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1920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data_quality/data_contract.yaml formalise les colonnes obligatoires, contraintes de complétude, valeurs autorisées, plages numériques et règles d'unicité (RAW et PREPARED).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0760" y="3611880"/>
            <a:ext cx="565099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205472" y="4334256"/>
            <a:ext cx="73152" cy="10972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0" name="Shape 38"/>
          <p:cNvSpPr/>
          <p:nvPr/>
        </p:nvSpPr>
        <p:spPr>
          <a:xfrm>
            <a:off x="7287768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87768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138160" y="4334256"/>
            <a:ext cx="73152" cy="10972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0456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0456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9070848" y="4334256"/>
            <a:ext cx="73152" cy="10972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6" name="Shape 44"/>
          <p:cNvSpPr/>
          <p:nvPr/>
        </p:nvSpPr>
        <p:spPr>
          <a:xfrm>
            <a:off x="9153144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53144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10003536" y="4334256"/>
            <a:ext cx="73152" cy="10972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085832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85832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dataset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10936224" y="4334256"/>
            <a:ext cx="73152" cy="109728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18520" y="4160520"/>
            <a:ext cx="841248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018520" y="41605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870" dirty="0"/>
          </a:p>
        </p:txBody>
      </p:sp>
      <p:sp>
        <p:nvSpPr>
          <p:cNvPr id="54" name="Text 52"/>
          <p:cNvSpPr txBox="1"/>
          <p:nvPr/>
        </p:nvSpPr>
        <p:spPr>
          <a:xfrm>
            <a:off x="635508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documentée dans data_quality/lineage.md, du fichier source jusqu'au modèle entraîné.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— classification du risque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920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02536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3852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des variables catégorielles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505456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risk_class : anti fuite de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72384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(StandardScaler) sauvegardée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434340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13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VAL / 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134074">
              <a:alpha val="10000"/>
            </a:srgbClr>
          </a:solidFill>
          <a:ln w="12700">
            <a:solidFill>
              <a:srgbClr val="1340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1596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9087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10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obs.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9424" y="425196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1B9E92">
              <a:alpha val="10000"/>
            </a:srgbClr>
          </a:solidFill>
          <a:ln w="12700">
            <a:solidFill>
              <a:srgbClr val="1B9E9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9424" y="431596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249424" y="469087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249424" y="4910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obs.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67328" y="425196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6C4AA8">
              <a:alpha val="10000"/>
            </a:srgbClr>
          </a:solidFill>
          <a:ln w="12700">
            <a:solidFill>
              <a:srgbClr val="6C4A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67328" y="431596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4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767328" y="469087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767328" y="491032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obs.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349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 ·  stratify=y  →  reproductibilité garantie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1463040"/>
            <a:ext cx="6199632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1627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MODÈLES — ACCURACY (VALIDATION)</a:t>
            </a:r>
            <a:endParaRPr lang="en-US" sz="105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5715000" y="1938528"/>
          <a:ext cx="580644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5532120" y="4434840"/>
            <a:ext cx="6199632" cy="123444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806440" y="4572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RETENU — ÉVALUATION FINALE SUR TEST INDÉPENDANT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5349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768096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7680960" y="5349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955548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600" dirty="0"/>
          </a:p>
        </p:txBody>
      </p:sp>
      <p:sp>
        <p:nvSpPr>
          <p:cNvPr id="40" name="Text 37"/>
          <p:cNvSpPr txBox="1"/>
          <p:nvPr/>
        </p:nvSpPr>
        <p:spPr>
          <a:xfrm>
            <a:off x="9555480" y="5349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</a:t>
            </a:r>
            <a:r>
              <a:rPr lang="en-US" sz="1200" b="1" kern="0" spc="200" smtClean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— Experiment Tracking &amp; Model Registry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3225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modèle, version, dataset, 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3008376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443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: validation/test accuracy, F1 macro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3630168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630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5661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: matrice de confusion, feature_names, modèle sérialisé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15087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1144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11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Registry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81144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1144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3225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enregistré sous dropout-predictor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81144" y="3008376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29443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automatique (v1, v2, ...)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81144" y="3630168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81144" y="3630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5661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directe dans Dagster (assets_ml.py)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3024" y="15087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9056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490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8970264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de qualité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449056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49056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6" name="Text 34"/>
          <p:cNvSpPr txBox="1"/>
          <p:nvPr/>
        </p:nvSpPr>
        <p:spPr>
          <a:xfrm>
            <a:off x="8759952" y="232257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MODEL_ACCURACY_THRESHOLD = 0.75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49056" y="3008376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49056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9" name="Text 37"/>
          <p:cNvSpPr txBox="1"/>
          <p:nvPr/>
        </p:nvSpPr>
        <p:spPr>
          <a:xfrm>
            <a:off x="8759952" y="2944368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si test_accuracy ≥ seuil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49056" y="3630168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49056" y="3630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35661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≥ 0.75 → modèle promu 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MLOPS ORCHESTRÉ PAR DAGSTER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6384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2319101" y="5335524"/>
            <a:ext cx="93817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8" name="Shape 46"/>
          <p:cNvSpPr/>
          <p:nvPr/>
        </p:nvSpPr>
        <p:spPr>
          <a:xfrm>
            <a:off x="2427732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482596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4015313" y="5335524"/>
            <a:ext cx="93817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1" name="Shape 49"/>
          <p:cNvSpPr/>
          <p:nvPr/>
        </p:nvSpPr>
        <p:spPr>
          <a:xfrm>
            <a:off x="4123944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178808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Test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5711525" y="5335524"/>
            <a:ext cx="93817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4" name="Shape 52"/>
          <p:cNvSpPr/>
          <p:nvPr/>
        </p:nvSpPr>
        <p:spPr>
          <a:xfrm>
            <a:off x="5820156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875020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7407737" y="5335524"/>
            <a:ext cx="93817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7" name="Shape 55"/>
          <p:cNvSpPr/>
          <p:nvPr/>
        </p:nvSpPr>
        <p:spPr>
          <a:xfrm>
            <a:off x="7516368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71232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9103949" y="5335524"/>
            <a:ext cx="93817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60" name="Shape 58"/>
          <p:cNvSpPr/>
          <p:nvPr/>
        </p:nvSpPr>
        <p:spPr>
          <a:xfrm>
            <a:off x="9212580" y="50749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67444" y="5111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3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</a:t>
            </a:r>
            <a:r>
              <a:rPr lang="en-US" sz="1200" b="1" kern="0" spc="200" smtClean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Dagster : un seul graphe, DataOps + MLOps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version initiale du projet, Dagster ne se limite plus au pipeline DataOps : il orchestre également la préparation ML, l'entraînement, l'évaluation, l'intégration MLflow et la promotion du modèle — un seul graphe d'assets, de la donnée brute au modèle en production.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D'ASSETS ORCHESTRÉ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134074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(dlt)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784909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1865376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134074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193085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3552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134074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28416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601261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681728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36592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009437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417613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52944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825789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5" name="Shape 23"/>
          <p:cNvSpPr/>
          <p:nvPr/>
        </p:nvSpPr>
        <p:spPr>
          <a:xfrm>
            <a:off x="8906256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6C4AA8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0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10233965" y="2958084"/>
            <a:ext cx="69494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14432" y="2697480"/>
            <a:ext cx="1316736" cy="658368"/>
          </a:xfrm>
          <a:prstGeom prst="roundRect">
            <a:avLst>
              <a:gd name="adj" fmla="val 11111"/>
            </a:avLst>
          </a:prstGeom>
          <a:solidFill>
            <a:srgbClr val="6C4AA8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69296" y="2734056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dataops/dagster/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18795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assets.py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5354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assets_ml.py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88289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definitions.py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2303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jobs_schedules.py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57784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resources.py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9253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Dockerfile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99432" y="3657600"/>
            <a:ext cx="3291840" cy="2606040"/>
          </a:xfrm>
          <a:prstGeom prst="roundRect">
            <a:avLst>
              <a:gd name="adj" fmla="val 3509"/>
            </a:avLst>
          </a:prstGeom>
          <a:solidFill>
            <a:srgbClr val="0B254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873752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873752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Schedule quotidien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873752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 : 0 2 * * *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73752" y="4892040"/>
            <a:ext cx="274320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73752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Sensor fichier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873752" y="5303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dès qu'un nouveau fichier apparaît dans data/raw/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11312" y="365760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85632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VALEUR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85632" y="4197096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85632" y="4197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9" name="Text 47"/>
          <p:cNvSpPr txBox="1"/>
          <p:nvPr/>
        </p:nvSpPr>
        <p:spPr>
          <a:xfrm>
            <a:off x="8796528" y="413308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Dagster : localhost:3000 (dev) / :3502 (Docker)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85632" y="485546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485632" y="4855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2" name="Text 50"/>
          <p:cNvSpPr txBox="1"/>
          <p:nvPr/>
        </p:nvSpPr>
        <p:spPr>
          <a:xfrm>
            <a:off x="8796528" y="479145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du lineage complet, asset par asset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485632" y="5513832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485632" y="5513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5" name="Text 53"/>
          <p:cNvSpPr txBox="1"/>
          <p:nvPr/>
        </p:nvSpPr>
        <p:spPr>
          <a:xfrm>
            <a:off x="8796528" y="544982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Ré-exécution ciblée en cas d'échec d'une étape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— FastAPI, Docker &amp;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FASTAPI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 —  vérifie que le service est en ligne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340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774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810512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  —  prédit le risque d'un étudiant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880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"prediction": "L", "risk_label": "Low Risk" 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88136" cy="502920"/>
          </a:xfrm>
          <a:prstGeom prst="roundRect">
            <a:avLst>
              <a:gd name="adj" fmla="val 10909"/>
            </a:avLst>
          </a:prstGeom>
          <a:solidFill>
            <a:srgbClr val="0B2545">
              <a:alpha val="9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43484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38528" y="4434840"/>
            <a:ext cx="1088136" cy="502920"/>
          </a:xfrm>
          <a:prstGeom prst="roundRect">
            <a:avLst>
              <a:gd name="adj" fmla="val 10909"/>
            </a:avLst>
          </a:prstGeom>
          <a:solidFill>
            <a:srgbClr val="0B2545">
              <a:alpha val="9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38528" y="443484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45536" y="4434840"/>
            <a:ext cx="1088136" cy="502920"/>
          </a:xfrm>
          <a:prstGeom prst="roundRect">
            <a:avLst>
              <a:gd name="adj" fmla="val 10909"/>
            </a:avLst>
          </a:prstGeom>
          <a:solidFill>
            <a:srgbClr val="0B2545">
              <a:alpha val="9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45536" y="443484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dagster-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52544" y="4434840"/>
            <a:ext cx="1088136" cy="502920"/>
          </a:xfrm>
          <a:prstGeom prst="roundRect">
            <a:avLst>
              <a:gd name="adj" fmla="val 10909"/>
            </a:avLst>
          </a:prstGeom>
          <a:solidFill>
            <a:srgbClr val="0B2545">
              <a:alpha val="95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52544" y="443484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dagster-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Orchestrés via docker-compose.yml — build direct des images (pas de registre externe).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5650992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— KOMODO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2075688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2011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GitOps auto-hébergée : build &amp; run direct du docker-compose.yml depuis le dépôt Git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2788920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2724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volontairement manuel (bouton Deploy), conformément à la consigne pédagogique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3502152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343814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 opérationnels validés : api, mlflow, dagster-webserver, dagster-daemon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55080" y="4215384"/>
            <a:ext cx="201168" cy="20116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55080" y="4215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415137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externe validé : http://exp.s3.fsbm.ma:3501/health → { "status": "ok" }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55080" y="502005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55080" y="50200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Premier déploiement validé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— GitHub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  —  déclenché sur push / Pull Request (develop, main)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11957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9" name="Shape 7"/>
          <p:cNvSpPr/>
          <p:nvPr/>
        </p:nvSpPr>
        <p:spPr>
          <a:xfrm>
            <a:off x="224028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9514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62833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13709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5780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266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4585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15461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018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663379" y="2423160"/>
            <a:ext cx="104242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21031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38944" y="2139696"/>
            <a:ext cx="1261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3794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service-monitoring.yml  —  monitoring automatisé de l'API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114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api_health_monitor.py toutes les 15 minutes et conserve l'historique des métriques comme artifact téléchargeable, ciblant l'URL définie par la variable de repo API_URL.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257800"/>
            <a:ext cx="357530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53492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806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GitHub Actions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06824" y="5257800"/>
            <a:ext cx="357530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06824" y="53492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4306824" y="5806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/health en CI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56448" y="5257800"/>
            <a:ext cx="357530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56448" y="5349240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156448" y="5806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du monitoring auto.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— modèle &amp;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DU MODÈLE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7510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911096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F1-score (macro) suivis via MLflow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505456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distributions Train vs nouvelles données (drift)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16382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99816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généré automatiquement (dashboard.png)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5650992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DU SERVICE (API)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97510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1911096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Disponibilité, code HTTP, temps de réponse, erreurs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56946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2505456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journalisé dans service_metrics.csv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3163824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24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3099816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dédié (service_dashboard.png)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370332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2EC4B6">
              <a:alpha val="1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703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(tests locaux)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961120" y="3703320"/>
            <a:ext cx="2468880" cy="548640"/>
          </a:xfrm>
          <a:prstGeom prst="roundRect">
            <a:avLst>
              <a:gd name="adj" fmla="val 11667"/>
            </a:avLst>
          </a:prstGeom>
          <a:solidFill>
            <a:srgbClr val="2EC4B6">
              <a:alpha val="1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828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~32ms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3703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moyenne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4718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INCIDENT DE REPRODUCTIBILITÉ IDENTIFIÉ &amp; CORRIGÉ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0292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StandardScaler d'entraînement n'était pas réutilisé à l'inférence : l'accuracy mesurée chutait à 0.29. Après sauvegarde et réutilisation systématique de scaler.pkl, l'accuracy est remontée à 0.7639, cohérente avec le test set.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0" y="4690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  →  0.7639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—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4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09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principal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94560"/>
            <a:ext cx="4928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stack, architecture, résultats, guide d'installation et d'exécution complet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15087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6479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709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docs/agile/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2194560"/>
            <a:ext cx="4928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Jira, User Stories, plannings, reviews et rétrospectives des 3 sprints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4564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docs/architecture/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86200"/>
            <a:ext cx="4928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du déploiement Cloud Komodo (GitOps, configuration, services)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4564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READMEs par module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3886200"/>
            <a:ext cx="4928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api/, ml/, mlflow/, monitoring/, deployment/, data_quality/, dataops/dlt-dbt-dagster/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 (attendu) — Dépôt GitHub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complet, historique Git structuré (main / develop / feature), README et documentation technique — disponibles à chaque étape du projet.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 — de la donnée au service déployé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19527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122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5529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124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1531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126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7533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128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3535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130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Préproc.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9953793" y="1933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0" y="1645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13264" y="1682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1197864" y="2788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6C4AA8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52728" y="2825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693457" y="3076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27" name="Shape 25"/>
          <p:cNvSpPr/>
          <p:nvPr/>
        </p:nvSpPr>
        <p:spPr>
          <a:xfrm>
            <a:off x="2798064" y="2788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6C4AA8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52928" y="2825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293657" y="3076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8264" y="2788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6C4AA8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53128" y="2825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93857" y="3076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98464" y="2788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3328" y="2825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Komodo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7494057" y="3076956"/>
            <a:ext cx="90343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98664" y="2788920"/>
            <a:ext cx="1481328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53528" y="28254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E2F52"/>
          </a:solidFill>
          <a:ln w="12700">
            <a:solidFill>
              <a:srgbClr val="2A4A7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434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→ Build Docker → Run API → Vérification /health, à chaque push/PR.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service-monitoring.yml toutes les 15 min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3977640"/>
            <a:ext cx="5559552" cy="1965960"/>
          </a:xfrm>
          <a:prstGeom prst="roundRect">
            <a:avLst>
              <a:gd name="adj" fmla="val 4651"/>
            </a:avLst>
          </a:prstGeom>
          <a:solidFill>
            <a:srgbClr val="0E2F52"/>
          </a:solidFill>
          <a:ln w="12700">
            <a:solidFill>
              <a:srgbClr val="2A4A7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465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(ORCHESTRATION)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446520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dbt → Qualité → Dataset ML → Training → Évaluation → Model Registry, en un seul graphe d'assets.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quotidien + sensor sur nouveaux fichiers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quelques chiffres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3538728" cy="64008"/>
          </a:xfrm>
          <a:prstGeom prst="rect">
            <a:avLst/>
          </a:prstGeom>
          <a:solidFill>
            <a:srgbClr val="1B9E9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6479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791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508760"/>
            <a:ext cx="3538728" cy="64008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25112" y="176479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6791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F1-score macro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50876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508760"/>
            <a:ext cx="3538728" cy="64008"/>
          </a:xfrm>
          <a:prstGeom prst="rect">
            <a:avLst/>
          </a:prstGeom>
          <a:solidFill>
            <a:srgbClr val="6C4A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93024" y="176479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C4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67919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qualité dbt réussis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353872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77647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6908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 atteints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5112" y="352044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520440"/>
            <a:ext cx="3538728" cy="64008"/>
          </a:xfrm>
          <a:prstGeom prst="rect">
            <a:avLst/>
          </a:prstGeom>
          <a:solidFill>
            <a:srgbClr val="1B9E9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25112" y="377647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9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6908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Agile terminés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520440"/>
            <a:ext cx="353872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3024" y="3520440"/>
            <a:ext cx="3538728" cy="64008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93024" y="3776472"/>
            <a:ext cx="3538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34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8421624" y="469087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API (tests locaux)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&amp; workflow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577340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577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36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27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527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Owner, orchestration Dagster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144268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" y="2144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36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0939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09397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Master, GitHub/README, support 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2711196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" y="2711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36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6609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66090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dlt + DuckDB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3278124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" y="32781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36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3227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32278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Analytics/ML Engineer — dbt, qualité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91072" y="1508760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1577340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19088" y="1577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36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527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1527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Data/ML Engineer — Machine Learning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91072" y="2075688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2144268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19088" y="2144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36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0939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Wijdane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209397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 — MLflow, monitoring ML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91072" y="2642616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2711196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19088" y="2711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36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6609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11312" y="266090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Engineer — FastAPI, Docker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3209544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9088" y="3278124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19088" y="32781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36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3227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Soukaina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11312" y="32278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— CI/CD, Cloud, monitoring service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70916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0B254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315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6384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66396" y="5367528"/>
            <a:ext cx="111191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49" name="Shape 47"/>
          <p:cNvSpPr/>
          <p:nvPr/>
        </p:nvSpPr>
        <p:spPr>
          <a:xfrm>
            <a:off x="2295144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50008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30020" y="5367528"/>
            <a:ext cx="111191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2" name="Shape 50"/>
          <p:cNvSpPr/>
          <p:nvPr/>
        </p:nvSpPr>
        <p:spPr>
          <a:xfrm>
            <a:off x="3858768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13632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93644" y="5367528"/>
            <a:ext cx="111191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5" name="Shape 53"/>
          <p:cNvSpPr/>
          <p:nvPr/>
        </p:nvSpPr>
        <p:spPr>
          <a:xfrm>
            <a:off x="5422392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C4C8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77256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57268" y="5367528"/>
            <a:ext cx="111191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58" name="Shape 56"/>
          <p:cNvSpPr/>
          <p:nvPr/>
        </p:nvSpPr>
        <p:spPr>
          <a:xfrm>
            <a:off x="6986016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40880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20892" y="5367528"/>
            <a:ext cx="111191" cy="137160"/>
          </a:xfrm>
          <a:prstGeom prst="rightArrow">
            <a:avLst/>
          </a:prstGeom>
          <a:solidFill>
            <a:srgbClr val="8DA9C4"/>
          </a:solidFill>
          <a:ln/>
        </p:spPr>
      </p:sp>
      <p:sp>
        <p:nvSpPr>
          <p:cNvPr id="61" name="Shape 59"/>
          <p:cNvSpPr/>
          <p:nvPr/>
        </p:nvSpPr>
        <p:spPr>
          <a:xfrm>
            <a:off x="8549640" y="513892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2EC4B6"/>
          </a:solidFill>
          <a:ln w="15875">
            <a:solidFill>
              <a:srgbClr val="8DA9C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04504" y="5175504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 suivies tout au long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Git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3225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exclusif sur branches feature/*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13232" y="316382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163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09981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commit direct sur main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3232" y="394106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41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systématique + revue avant fusion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471830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718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65429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basculé et stabilisé sur main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25112" y="150876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811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23" name="Text 21"/>
          <p:cNvSpPr txBox="1"/>
          <p:nvPr/>
        </p:nvSpPr>
        <p:spPr>
          <a:xfrm>
            <a:off x="5102352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&amp; reproductibilité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81144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23225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exécutés avant chaque push (pytest, dbt)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581144" y="316382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81144" y="3163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09981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stricte DataOps / Machine Learning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581144" y="394106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81144" y="3941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 la fuite de données (risk_class exclue)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581144" y="471830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81144" y="4718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465429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sur tous les splits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193024" y="150876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49056" y="17373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490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39" name="Text 37"/>
          <p:cNvSpPr txBox="1"/>
          <p:nvPr/>
        </p:nvSpPr>
        <p:spPr>
          <a:xfrm>
            <a:off x="8970264" y="17647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&amp; déploiement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449056" y="238658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49056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2" name="Text 40"/>
          <p:cNvSpPr txBox="1"/>
          <p:nvPr/>
        </p:nvSpPr>
        <p:spPr>
          <a:xfrm>
            <a:off x="8759952" y="23225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réutilisation systématique du scaler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449056" y="316382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449056" y="3163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5" name="Text 43"/>
          <p:cNvSpPr txBox="1"/>
          <p:nvPr/>
        </p:nvSpPr>
        <p:spPr>
          <a:xfrm>
            <a:off x="8759952" y="309981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et validation avant promotion (MLflow)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449056" y="394106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449056" y="3941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48" name="Text 46"/>
          <p:cNvSpPr txBox="1"/>
          <p:nvPr/>
        </p:nvSpPr>
        <p:spPr>
          <a:xfrm>
            <a:off x="8759952" y="387705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complète (Docker Compose)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449056" y="4718304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49056" y="4718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20" dirty="0"/>
          </a:p>
        </p:txBody>
      </p:sp>
      <p:sp>
        <p:nvSpPr>
          <p:cNvPr id="51" name="Text 49"/>
          <p:cNvSpPr txBox="1"/>
          <p:nvPr/>
        </p:nvSpPr>
        <p:spPr>
          <a:xfrm>
            <a:off x="8759952" y="465429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manuel, conformément à la consigne pédagogique</a:t>
            </a:r>
            <a:endParaRPr lang="en-US" sz="108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754880" cy="4754880"/>
          </a:xfrm>
          <a:prstGeom prst="ellipse">
            <a:avLst/>
          </a:prstGeom>
          <a:solidFill>
            <a:srgbClr val="13407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4389120" cy="4389120"/>
          </a:xfrm>
          <a:prstGeom prst="ellipse">
            <a:avLst/>
          </a:prstGeom>
          <a:solidFill>
            <a:srgbClr val="134074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80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Data → Production entièrement industrialisée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441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898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355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813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70916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Monitoring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5577840" cy="3063240"/>
          </a:xfrm>
          <a:prstGeom prst="roundRect">
            <a:avLst>
              <a:gd name="adj" fmla="val 3582"/>
            </a:avLst>
          </a:prstGeom>
          <a:solidFill>
            <a:srgbClr val="0E2F52"/>
          </a:solidFill>
          <a:ln w="12700">
            <a:solidFill>
              <a:srgbClr val="2A4A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542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RANDOM FOREST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0.8194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493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4930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0599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F1-score macro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0" y="4672584"/>
            <a:ext cx="502920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48280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Versionné, tracé et promu automatiquement selon un seuil de qualité (0.76 ≥ 0.75).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62356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623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Livrable final — Présentation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246120" y="5623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place à la démonstration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Dropout Prediction — MLOps &amp; DataOps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54710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2243</Words>
  <Application>Microsoft Office PowerPoint</Application>
  <PresentationFormat>Grand écran</PresentationFormat>
  <Paragraphs>576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2026-09-16T00:37:01Z</dcterms:created>
  <dcterms:modified xsi:type="dcterms:W3CDTF">2026-09-22T17:33:46Z</dcterms:modified>
</cp:coreProperties>
</file>